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  <p:sldMasterId id="2147483761" r:id="rId2"/>
  </p:sldMasterIdLst>
  <p:sldIdLst>
    <p:sldId id="256" r:id="rId3"/>
    <p:sldId id="271" r:id="rId4"/>
    <p:sldId id="278" r:id="rId5"/>
    <p:sldId id="272" r:id="rId6"/>
    <p:sldId id="273" r:id="rId7"/>
    <p:sldId id="258" r:id="rId8"/>
    <p:sldId id="2561" r:id="rId9"/>
    <p:sldId id="1934" r:id="rId10"/>
    <p:sldId id="2565" r:id="rId11"/>
    <p:sldId id="263" r:id="rId12"/>
    <p:sldId id="262" r:id="rId13"/>
    <p:sldId id="275" r:id="rId14"/>
    <p:sldId id="276" r:id="rId15"/>
    <p:sldId id="277" r:id="rId16"/>
    <p:sldId id="2563" r:id="rId17"/>
    <p:sldId id="2652" r:id="rId18"/>
    <p:sldId id="267" r:id="rId19"/>
    <p:sldId id="269" r:id="rId20"/>
    <p:sldId id="260" r:id="rId21"/>
    <p:sldId id="264" r:id="rId22"/>
    <p:sldId id="2394" r:id="rId23"/>
    <p:sldId id="2159" r:id="rId24"/>
    <p:sldId id="2597" r:id="rId25"/>
    <p:sldId id="2604" r:id="rId26"/>
    <p:sldId id="2598" r:id="rId27"/>
    <p:sldId id="2605" r:id="rId28"/>
    <p:sldId id="2599" r:id="rId29"/>
    <p:sldId id="2606" r:id="rId30"/>
    <p:sldId id="2600" r:id="rId31"/>
    <p:sldId id="2607" r:id="rId32"/>
    <p:sldId id="2601" r:id="rId33"/>
    <p:sldId id="2608" r:id="rId34"/>
    <p:sldId id="2602" r:id="rId35"/>
    <p:sldId id="2609" r:id="rId36"/>
    <p:sldId id="2603" r:id="rId37"/>
    <p:sldId id="261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396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4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05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3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1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5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4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52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squares"/>
          <p:cNvGrpSpPr/>
          <p:nvPr userDrawn="1"/>
        </p:nvGrpSpPr>
        <p:grpSpPr>
          <a:xfrm>
            <a:off x="1" y="2053940"/>
            <a:ext cx="838200" cy="524183"/>
            <a:chOff x="0" y="452558"/>
            <a:chExt cx="914400" cy="524182"/>
          </a:xfrm>
        </p:grpSpPr>
        <p:sp>
          <p:nvSpPr>
            <p:cNvPr id="16" name="Rounded Rectangle 15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8" name="Round Same Side Corner Rectangle 17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grpSp>
        <p:nvGrpSpPr>
          <p:cNvPr id="19" name="squares"/>
          <p:cNvGrpSpPr/>
          <p:nvPr userDrawn="1"/>
        </p:nvGrpSpPr>
        <p:grpSpPr>
          <a:xfrm rot="10800000">
            <a:off x="11356040" y="2053940"/>
            <a:ext cx="838200" cy="524183"/>
            <a:chOff x="0" y="452558"/>
            <a:chExt cx="914400" cy="524182"/>
          </a:xfrm>
        </p:grpSpPr>
        <p:sp>
          <p:nvSpPr>
            <p:cNvPr id="20" name="Rounded Rectangle 19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54B75-CACB-4A84-9E02-75CECF0BC0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32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104" y="762000"/>
            <a:ext cx="10363200" cy="2387600"/>
          </a:xfrm>
        </p:spPr>
        <p:txBody>
          <a:bodyPr anchor="ctr">
            <a:normAutofit/>
          </a:bodyPr>
          <a:lstStyle>
            <a:lvl1pPr algn="l"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4024441"/>
            <a:ext cx="9144000" cy="165576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937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1"/>
            <a:ext cx="10515600" cy="5333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squares"/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12" name="Rounded Rectangle 11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 Same Side Corner Rectangle 13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411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466976"/>
            <a:ext cx="10515600" cy="2095501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squares"/>
          <p:cNvGrpSpPr/>
          <p:nvPr userDrawn="1"/>
        </p:nvGrpSpPr>
        <p:grpSpPr>
          <a:xfrm>
            <a:off x="1" y="3240257"/>
            <a:ext cx="838200" cy="524183"/>
            <a:chOff x="0" y="452558"/>
            <a:chExt cx="914400" cy="524182"/>
          </a:xfrm>
        </p:grpSpPr>
        <p:sp>
          <p:nvSpPr>
            <p:cNvPr id="12" name="Rounded Rectangle 11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 Same Side Corner Rectangle 13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34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3001"/>
            <a:ext cx="5181600" cy="5333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3001"/>
            <a:ext cx="5181600" cy="5333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squares"/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11" name="Rounded Rectangle 10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 Same Side Corner Rectangle 12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22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66800"/>
            <a:ext cx="5157787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14512"/>
            <a:ext cx="5157787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066800"/>
            <a:ext cx="5183188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814512"/>
            <a:ext cx="5183188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2" name="squares"/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13" name="Rounded Rectangle 12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9" name="Round Same Side Corner Rectangle 18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2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61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squares"/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9" name="Rounded Rectangle 8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5" name="Round Same Side Corner Rectangle 14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32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/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3" name="Rounded Rectangle 2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5" name="Round Same Side Corner Rectangle 4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6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1"/>
            <a:ext cx="5384800" cy="54097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384800" cy="5409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5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64B7D2C-EC4F-485D-A30A-CB2EADBD0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grpSp>
        <p:nvGrpSpPr>
          <p:cNvPr id="16" name="squares">
            <a:extLst>
              <a:ext uri="{FF2B5EF4-FFF2-40B4-BE49-F238E27FC236}">
                <a16:creationId xmlns:a16="http://schemas.microsoft.com/office/drawing/2014/main" id="{2BFB66EF-0CC1-4DF6-B5BB-AAEBB663B4A4}"/>
              </a:ext>
            </a:extLst>
          </p:cNvPr>
          <p:cNvGrpSpPr/>
          <p:nvPr userDrawn="1"/>
        </p:nvGrpSpPr>
        <p:grpSpPr>
          <a:xfrm>
            <a:off x="1" y="237818"/>
            <a:ext cx="838200" cy="524183"/>
            <a:chOff x="0" y="452558"/>
            <a:chExt cx="914400" cy="524182"/>
          </a:xfrm>
        </p:grpSpPr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7CBA2252-0E3A-4D42-9FDF-E5CB6C71CAAD}"/>
                </a:ext>
              </a:extLst>
            </p:cNvPr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87">
                <a:defRPr/>
              </a:pPr>
              <a:endParaRPr sz="2400" kern="0">
                <a:solidFill>
                  <a:prstClr val="white"/>
                </a:solidFill>
                <a:latin typeface="Constantia"/>
                <a:ea typeface="ＭＳ Ｐゴシック" pitchFamily="50" charset="-128"/>
              </a:endParaRPr>
            </a:p>
          </p:txBody>
        </p:sp>
        <p:sp>
          <p:nvSpPr>
            <p:cNvPr id="18" name="Rounded Rectangle 3">
              <a:extLst>
                <a:ext uri="{FF2B5EF4-FFF2-40B4-BE49-F238E27FC236}">
                  <a16:creationId xmlns:a16="http://schemas.microsoft.com/office/drawing/2014/main" id="{CA7BF8D0-25EE-49B0-9340-15A114A2C317}"/>
                </a:ext>
              </a:extLst>
            </p:cNvPr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87">
                <a:defRPr/>
              </a:pPr>
              <a:endParaRPr sz="2400" kern="0">
                <a:solidFill>
                  <a:prstClr val="white"/>
                </a:solidFill>
                <a:latin typeface="Constantia"/>
                <a:ea typeface="ＭＳ Ｐゴシック" pitchFamily="50" charset="-128"/>
              </a:endParaRPr>
            </a:p>
          </p:txBody>
        </p:sp>
        <p:sp>
          <p:nvSpPr>
            <p:cNvPr id="19" name="Round Same Side Corner Rectangle 4">
              <a:extLst>
                <a:ext uri="{FF2B5EF4-FFF2-40B4-BE49-F238E27FC236}">
                  <a16:creationId xmlns:a16="http://schemas.microsoft.com/office/drawing/2014/main" id="{6B899947-A7B6-4A67-B48E-6F629EC0C8A5}"/>
                </a:ext>
              </a:extLst>
            </p:cNvPr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87">
                <a:defRPr/>
              </a:pPr>
              <a:endParaRPr sz="2400" kern="0">
                <a:solidFill>
                  <a:prstClr val="white"/>
                </a:solidFill>
                <a:latin typeface="Constantia"/>
                <a:ea typeface="ＭＳ Ｐゴシック" pitchFamily="50" charset="-128"/>
              </a:endParaRPr>
            </a:p>
          </p:txBody>
        </p:sp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D395310-E4AF-4F59-A8A6-B3070920E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629400"/>
            <a:ext cx="2743200" cy="228600"/>
          </a:xfrm>
          <a:prstGeom prst="rect">
            <a:avLst/>
          </a:prstGeom>
        </p:spPr>
        <p:txBody>
          <a:bodyPr anchor="ctr"/>
          <a:lstStyle>
            <a:lvl1pPr algn="ctr">
              <a:defRPr sz="10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1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9F69401-A806-4D63-88C5-1CD25912D36D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9262397-3835-4E63-A8AE-21EEA346468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07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199" y="152399"/>
            <a:ext cx="11335327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3001"/>
            <a:ext cx="10515600" cy="533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200" y="6700310"/>
            <a:ext cx="794325" cy="1413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5" y="6717439"/>
            <a:ext cx="1077636" cy="140561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553200"/>
            <a:ext cx="27432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63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www.youtube.com/watch?v=pCK6prSq8aw&amp;t=7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hyperlink" Target="https://www.youtube.com/watch?v=dvjMsoJeHjI&amp;t=274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0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DE2E-2624-4931-8183-BF373BE3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C6688-6B18-4836-B63B-6360B329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Sequence diagram menggambarkan </a:t>
            </a:r>
            <a:r>
              <a:rPr lang="id-ID" dirty="0">
                <a:solidFill>
                  <a:srgbClr val="C00000"/>
                </a:solidFill>
              </a:rPr>
              <a:t>interaksi antar </a:t>
            </a:r>
            <a:r>
              <a:rPr lang="id-ID" i="1" dirty="0">
                <a:solidFill>
                  <a:srgbClr val="C00000"/>
                </a:solidFill>
              </a:rPr>
              <a:t>object</a:t>
            </a:r>
            <a:r>
              <a:rPr lang="id-ID" dirty="0">
                <a:solidFill>
                  <a:srgbClr val="C00000"/>
                </a:solidFill>
              </a:rPr>
              <a:t> (</a:t>
            </a:r>
            <a:r>
              <a:rPr lang="id-ID" i="1" dirty="0">
                <a:solidFill>
                  <a:srgbClr val="C00000"/>
                </a:solidFill>
              </a:rPr>
              <a:t>class</a:t>
            </a:r>
            <a:r>
              <a:rPr lang="id-ID" dirty="0">
                <a:solidFill>
                  <a:srgbClr val="C00000"/>
                </a:solidFill>
              </a:rPr>
              <a:t>) dalam sofware</a:t>
            </a:r>
            <a:r>
              <a:rPr lang="id-ID" dirty="0"/>
              <a:t> pada suatu </a:t>
            </a:r>
            <a:r>
              <a:rPr lang="id-ID" dirty="0">
                <a:solidFill>
                  <a:srgbClr val="C00000"/>
                </a:solidFill>
              </a:rPr>
              <a:t>sekuensial waktu</a:t>
            </a:r>
          </a:p>
          <a:p>
            <a:pPr lvl="1"/>
            <a:r>
              <a:rPr lang="id-ID" dirty="0"/>
              <a:t>Interaksi object (class) berdasarkan </a:t>
            </a:r>
            <a:r>
              <a:rPr lang="id-ID" dirty="0">
                <a:solidFill>
                  <a:srgbClr val="0070C0"/>
                </a:solidFill>
              </a:rPr>
              <a:t>alur proses bekerjanya software</a:t>
            </a:r>
            <a:r>
              <a:rPr lang="id-ID" dirty="0"/>
              <a:t>, dimana interaksi tersebut menggambarkan </a:t>
            </a:r>
            <a:r>
              <a:rPr lang="id-ID" dirty="0">
                <a:solidFill>
                  <a:srgbClr val="00B050"/>
                </a:solidFill>
              </a:rPr>
              <a:t>pesan yang dikirimkan secara sekuensial antara object </a:t>
            </a:r>
            <a:r>
              <a:rPr lang="id-ID" dirty="0"/>
              <a:t>(class)</a:t>
            </a:r>
            <a:endParaRPr lang="id-ID" dirty="0">
              <a:solidFill>
                <a:srgbClr val="0070C0"/>
              </a:solidFill>
            </a:endParaRPr>
          </a:p>
          <a:p>
            <a:pPr lvl="1"/>
            <a:r>
              <a:rPr lang="id-ID" dirty="0"/>
              <a:t>Garis </a:t>
            </a:r>
            <a:r>
              <a:rPr lang="id-ID" dirty="0">
                <a:solidFill>
                  <a:srgbClr val="0070C0"/>
                </a:solidFill>
              </a:rPr>
              <a:t>vertikal (lifeline) menunjukkan object (class)</a:t>
            </a:r>
            <a:r>
              <a:rPr lang="id-ID" dirty="0"/>
              <a:t>, garis </a:t>
            </a:r>
            <a:r>
              <a:rPr lang="id-ID" dirty="0">
                <a:solidFill>
                  <a:srgbClr val="00B050"/>
                </a:solidFill>
              </a:rPr>
              <a:t>horizontal menunjukkan pesan yang mengalir </a:t>
            </a:r>
            <a:r>
              <a:rPr lang="id-ID" dirty="0"/>
              <a:t>antara object (class) tersebut</a:t>
            </a:r>
          </a:p>
          <a:p>
            <a:endParaRPr lang="id-ID" dirty="0"/>
          </a:p>
          <a:p>
            <a:r>
              <a:rPr lang="id-ID" dirty="0"/>
              <a:t>Sequence diagram adalah </a:t>
            </a:r>
            <a:r>
              <a:rPr lang="id-ID" dirty="0">
                <a:solidFill>
                  <a:srgbClr val="C00000"/>
                </a:solidFill>
              </a:rPr>
              <a:t>alat komunikasi System Analyst dengan Programmer</a:t>
            </a:r>
            <a:r>
              <a:rPr lang="id-ID" dirty="0"/>
              <a:t>, menggambarkan alur proses bekerjanya software sekaligus dengan komposisi software akan seperti apa</a:t>
            </a:r>
          </a:p>
        </p:txBody>
      </p:sp>
    </p:spTree>
    <p:extLst>
      <p:ext uri="{BB962C8B-B14F-4D97-AF65-F5344CB8AC3E}">
        <p14:creationId xmlns:p14="http://schemas.microsoft.com/office/powerpoint/2010/main" val="358215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9EC2D7-B839-48CF-8255-FF5A650B4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61" y="-18792"/>
            <a:ext cx="9451252" cy="687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2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67D0-92B5-4B52-AC6D-1AF595B5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(1): 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81DD-6495-4F47-9B3E-76BF08D9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Actor </a:t>
            </a:r>
            <a:r>
              <a:rPr lang="en-US" dirty="0" err="1"/>
              <a:t>merupakan</a:t>
            </a:r>
            <a:r>
              <a:rPr lang="en-US" dirty="0"/>
              <a:t> model yang </a:t>
            </a:r>
            <a:r>
              <a:rPr lang="en-US" dirty="0" err="1"/>
              <a:t>memainkan</a:t>
            </a:r>
            <a:r>
              <a:rPr lang="en-US" dirty="0"/>
              <a:t> </a:t>
            </a:r>
            <a:r>
              <a:rPr lang="en-US" dirty="0" err="1"/>
              <a:t>peran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subjek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dia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subjek</a:t>
            </a:r>
            <a:r>
              <a:rPr lang="en-US" dirty="0"/>
              <a:t> </a:t>
            </a:r>
            <a:r>
              <a:rPr lang="en-US" dirty="0" err="1"/>
              <a:t>eksternal</a:t>
            </a:r>
            <a:r>
              <a:rPr lang="en-US" dirty="0"/>
              <a:t>.</a:t>
            </a:r>
          </a:p>
          <a:p>
            <a:r>
              <a:rPr lang="en-US" dirty="0"/>
              <a:t>Actor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(</a:t>
            </a:r>
            <a:r>
              <a:rPr lang="en-US" dirty="0" err="1"/>
              <a:t>pengguna</a:t>
            </a:r>
            <a:r>
              <a:rPr lang="en-US" dirty="0"/>
              <a:t> system), hardware </a:t>
            </a:r>
            <a:r>
              <a:rPr lang="en-US" dirty="0" err="1"/>
              <a:t>eksternal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subjek</a:t>
            </a:r>
            <a:r>
              <a:rPr lang="en-US" dirty="0"/>
              <a:t> lain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05940-8516-4090-8730-811D0F7DE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978" y="56078"/>
            <a:ext cx="1050822" cy="163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0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4CBA-B0DF-4739-B765-CECCD73C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(2): </a:t>
            </a:r>
            <a:r>
              <a:rPr lang="en-US" dirty="0" err="1"/>
              <a:t>LifeLine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CCB4-68CE-45C0-AA51-94F59C7F9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Partisipan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scenario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horizontal </a:t>
            </a:r>
            <a:r>
              <a:rPr lang="en-US" dirty="0" err="1"/>
              <a:t>diatas</a:t>
            </a:r>
            <a:r>
              <a:rPr lang="en-US" dirty="0"/>
              <a:t> diagram</a:t>
            </a:r>
          </a:p>
          <a:p>
            <a:r>
              <a:rPr lang="en-US" dirty="0"/>
              <a:t>Lifeline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strip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lang="en-US" dirty="0"/>
          </a:p>
          <a:p>
            <a:r>
              <a:rPr lang="en-US" dirty="0"/>
              <a:t>Nama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spesifik</a:t>
            </a:r>
            <a:r>
              <a:rPr lang="en-US" dirty="0"/>
              <a:t> (</a:t>
            </a:r>
            <a:r>
              <a:rPr lang="en-US" dirty="0" err="1"/>
              <a:t>contoh:myAccount</a:t>
            </a:r>
            <a:r>
              <a:rPr lang="en-US" dirty="0"/>
              <a:t>)</a:t>
            </a:r>
          </a:p>
          <a:p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Boundary </a:t>
            </a:r>
            <a:r>
              <a:rPr lang="en-US" dirty="0" err="1"/>
              <a:t>LifeLine</a:t>
            </a:r>
            <a:endParaRPr lang="en-US" dirty="0"/>
          </a:p>
          <a:p>
            <a:pPr lvl="1"/>
            <a:r>
              <a:rPr lang="en-US" dirty="0"/>
              <a:t>Control </a:t>
            </a:r>
            <a:r>
              <a:rPr lang="en-US" dirty="0" err="1"/>
              <a:t>LifeLine</a:t>
            </a:r>
            <a:endParaRPr lang="en-US" dirty="0"/>
          </a:p>
          <a:p>
            <a:pPr lvl="1"/>
            <a:r>
              <a:rPr lang="en-US" dirty="0"/>
              <a:t>Entity </a:t>
            </a:r>
            <a:r>
              <a:rPr lang="en-US" dirty="0" err="1"/>
              <a:t>LifeLine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09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(2): </a:t>
            </a:r>
            <a:r>
              <a:rPr lang="en-US" dirty="0" err="1"/>
              <a:t>LifeLine</a:t>
            </a:r>
            <a:endParaRPr lang="en-US" dirty="0"/>
          </a:p>
        </p:txBody>
      </p:sp>
      <p:pic>
        <p:nvPicPr>
          <p:cNvPr id="9" name="Content Placeholder 8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5" y="2261490"/>
            <a:ext cx="10058400" cy="3322964"/>
          </a:xfrm>
        </p:spPr>
      </p:pic>
      <p:sp>
        <p:nvSpPr>
          <p:cNvPr id="5" name="Line Callout 2 4"/>
          <p:cNvSpPr/>
          <p:nvPr/>
        </p:nvSpPr>
        <p:spPr>
          <a:xfrm>
            <a:off x="6598763" y="1011981"/>
            <a:ext cx="820132" cy="8578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214"/>
              <a:gd name="adj6" fmla="val -570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layer</a:t>
            </a:r>
          </a:p>
        </p:txBody>
      </p:sp>
      <p:sp>
        <p:nvSpPr>
          <p:cNvPr id="7" name="Line Callout 2 6"/>
          <p:cNvSpPr/>
          <p:nvPr/>
        </p:nvSpPr>
        <p:spPr>
          <a:xfrm>
            <a:off x="8636524" y="845127"/>
            <a:ext cx="820132" cy="8578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214"/>
              <a:gd name="adj6" fmla="val -570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cut SD</a:t>
            </a:r>
          </a:p>
        </p:txBody>
      </p:sp>
      <p:sp>
        <p:nvSpPr>
          <p:cNvPr id="8" name="Line Callout 2 7"/>
          <p:cNvSpPr/>
          <p:nvPr/>
        </p:nvSpPr>
        <p:spPr>
          <a:xfrm>
            <a:off x="10592428" y="871693"/>
            <a:ext cx="820132" cy="8578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214"/>
              <a:gd name="adj6" fmla="val -570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Access Layer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174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EA099-F03D-4791-B15B-94B281B4A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84787A-D15A-4411-98EC-2198C597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Denert</a:t>
            </a:r>
            <a:r>
              <a:rPr lang="en-US" dirty="0"/>
              <a:t>’</a:t>
            </a:r>
            <a:r>
              <a:rPr lang="id-ID" dirty="0"/>
              <a:t>s</a:t>
            </a:r>
            <a:r>
              <a:rPr lang="en-US" dirty="0"/>
              <a:t> </a:t>
            </a:r>
            <a:r>
              <a:rPr lang="id-ID" dirty="0"/>
              <a:t>L</a:t>
            </a:r>
            <a:r>
              <a:rPr lang="en-US" dirty="0"/>
              <a:t>aw</a:t>
            </a:r>
            <a:r>
              <a:rPr lang="id-ID" dirty="0"/>
              <a:t> (1991)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5F062-01DB-4447-8E35-8452E77FF5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t="25555" r="25000" b="24444"/>
          <a:stretch/>
        </p:blipFill>
        <p:spPr>
          <a:xfrm>
            <a:off x="1135771" y="3130062"/>
            <a:ext cx="5881857" cy="372793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99078D-A680-422A-8CB0-6CD6CB9A3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43001"/>
            <a:ext cx="78867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4000" dirty="0">
                <a:solidFill>
                  <a:srgbClr val="C00000"/>
                </a:solidFill>
              </a:rPr>
              <a:t>Separation of concerns </a:t>
            </a:r>
            <a:r>
              <a:rPr lang="en-ID" sz="4000" dirty="0"/>
              <a:t>leads to standard architectures</a:t>
            </a:r>
            <a:endParaRPr lang="id-ID" sz="3600" dirty="0"/>
          </a:p>
          <a:p>
            <a:pPr marL="0" indent="0" algn="r">
              <a:buNone/>
            </a:pPr>
            <a:endParaRPr lang="id-ID" sz="1100" i="1" dirty="0"/>
          </a:p>
          <a:p>
            <a:pPr marL="0" indent="0" algn="r">
              <a:buNone/>
            </a:pPr>
            <a:r>
              <a:rPr lang="id-ID" i="1" dirty="0"/>
              <a:t>(</a:t>
            </a:r>
            <a:r>
              <a:rPr lang="id-ID" i="1" dirty="0" err="1"/>
              <a:t>Endres</a:t>
            </a:r>
            <a:r>
              <a:rPr lang="id-ID" i="1" dirty="0"/>
              <a:t>, 2003)                                                              [</a:t>
            </a:r>
            <a:r>
              <a:rPr lang="id-ID" i="1" dirty="0">
                <a:solidFill>
                  <a:srgbClr val="00B050"/>
                </a:solidFill>
              </a:rPr>
              <a:t>L9</a:t>
            </a:r>
            <a:r>
              <a:rPr lang="id-ID" i="1" dirty="0"/>
              <a:t>]</a:t>
            </a:r>
            <a:endParaRPr lang="en-US" i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693EA5-C4F1-475D-B3CB-FB8997C6D286}"/>
              </a:ext>
            </a:extLst>
          </p:cNvPr>
          <p:cNvSpPr/>
          <p:nvPr/>
        </p:nvSpPr>
        <p:spPr>
          <a:xfrm>
            <a:off x="1828801" y="3238502"/>
            <a:ext cx="8501495" cy="1028699"/>
          </a:xfrm>
          <a:prstGeom prst="roundRect">
            <a:avLst/>
          </a:prstGeom>
          <a:solidFill>
            <a:srgbClr val="FF0000">
              <a:alpha val="25098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id-ID" sz="4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Boundary</a:t>
            </a:r>
            <a:endParaRPr kumimoji="1"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5D9FD8-58FA-4686-AA34-ED867530CC90}"/>
              </a:ext>
            </a:extLst>
          </p:cNvPr>
          <p:cNvSpPr/>
          <p:nvPr/>
        </p:nvSpPr>
        <p:spPr>
          <a:xfrm>
            <a:off x="1828800" y="4479682"/>
            <a:ext cx="8501495" cy="1028699"/>
          </a:xfrm>
          <a:prstGeom prst="roundRect">
            <a:avLst/>
          </a:prstGeom>
          <a:solidFill>
            <a:srgbClr val="0070C0">
              <a:alpha val="25098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id-ID" sz="4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Control</a:t>
            </a:r>
            <a:endParaRPr kumimoji="1" lang="en-US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A7F697-0BB7-4B1C-BC78-5D0420FE57C0}"/>
              </a:ext>
            </a:extLst>
          </p:cNvPr>
          <p:cNvSpPr/>
          <p:nvPr/>
        </p:nvSpPr>
        <p:spPr>
          <a:xfrm>
            <a:off x="1800225" y="5715001"/>
            <a:ext cx="8501495" cy="1028699"/>
          </a:xfrm>
          <a:prstGeom prst="roundRect">
            <a:avLst/>
          </a:prstGeom>
          <a:solidFill>
            <a:srgbClr val="7030A0">
              <a:alpha val="25098"/>
            </a:srgbClr>
          </a:solidFill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id-ID" sz="44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Entity</a:t>
            </a:r>
            <a:endParaRPr kumimoji="1" lang="en-US" sz="44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82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err="1"/>
              <a:t>Sequence</a:t>
            </a:r>
            <a:r>
              <a:rPr lang="id-ID" dirty="0"/>
              <a:t> Diagram berbasis Arsitektur </a:t>
            </a:r>
            <a:r>
              <a:rPr lang="id-ID" dirty="0" err="1">
                <a:solidFill>
                  <a:srgbClr val="C00000"/>
                </a:solidFill>
              </a:rPr>
              <a:t>Boundary</a:t>
            </a:r>
            <a:r>
              <a:rPr lang="id-ID" dirty="0"/>
              <a:t> – </a:t>
            </a:r>
            <a:r>
              <a:rPr lang="id-ID" dirty="0" err="1">
                <a:solidFill>
                  <a:srgbClr val="0070C0"/>
                </a:solidFill>
              </a:rPr>
              <a:t>Control</a:t>
            </a:r>
            <a:r>
              <a:rPr lang="id-ID" dirty="0"/>
              <a:t> – </a:t>
            </a:r>
            <a:r>
              <a:rPr lang="id-ID" dirty="0" err="1">
                <a:solidFill>
                  <a:srgbClr val="7030A0"/>
                </a:solidFill>
              </a:rPr>
              <a:t>Entity</a:t>
            </a:r>
            <a:r>
              <a:rPr lang="id-ID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4E259-BE56-4EA9-8CA4-782A3B2360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t="21250" r="23333" b="17499"/>
          <a:stretch/>
        </p:blipFill>
        <p:spPr>
          <a:xfrm>
            <a:off x="5753100" y="2182067"/>
            <a:ext cx="4914900" cy="354161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352552"/>
            <a:ext cx="4724400" cy="542924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Boundary</a:t>
            </a:r>
            <a:r>
              <a:rPr lang="en-US" dirty="0"/>
              <a:t> Class:</a:t>
            </a:r>
          </a:p>
          <a:p>
            <a:pPr lvl="1"/>
            <a:r>
              <a:rPr lang="en-US" dirty="0"/>
              <a:t>Class yang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(user interface)</a:t>
            </a:r>
          </a:p>
          <a:p>
            <a:pPr lvl="1"/>
            <a:r>
              <a:rPr lang="en-US" dirty="0"/>
              <a:t>Form, input, UI</a:t>
            </a:r>
            <a:r>
              <a:rPr lang="id-ID" dirty="0"/>
              <a:t>, </a:t>
            </a:r>
            <a:r>
              <a:rPr lang="id-ID" dirty="0" err="1"/>
              <a:t>dsb</a:t>
            </a:r>
            <a:endParaRPr lang="id-ID" dirty="0"/>
          </a:p>
          <a:p>
            <a:pPr lvl="1"/>
            <a:endParaRPr lang="en-US" sz="900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Control</a:t>
            </a:r>
            <a:r>
              <a:rPr lang="en-US" dirty="0"/>
              <a:t> Class:</a:t>
            </a:r>
          </a:p>
          <a:p>
            <a:pPr lvl="1"/>
            <a:r>
              <a:rPr lang="en-US" dirty="0"/>
              <a:t>Class yang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pemrosesan</a:t>
            </a:r>
            <a:r>
              <a:rPr lang="en-US" dirty="0"/>
              <a:t>, </a:t>
            </a:r>
            <a:r>
              <a:rPr lang="en-US" dirty="0" err="1"/>
              <a:t>penghitungan</a:t>
            </a:r>
            <a:r>
              <a:rPr lang="en-US" dirty="0"/>
              <a:t>, </a:t>
            </a:r>
            <a:r>
              <a:rPr lang="en-US" dirty="0" err="1"/>
              <a:t>kalkulasi</a:t>
            </a:r>
            <a:r>
              <a:rPr lang="en-US" dirty="0"/>
              <a:t>, </a:t>
            </a:r>
            <a:r>
              <a:rPr lang="en-US" dirty="0" err="1"/>
              <a:t>komputasi</a:t>
            </a:r>
            <a:r>
              <a:rPr lang="en-US" dirty="0"/>
              <a:t>, query, </a:t>
            </a:r>
            <a:r>
              <a:rPr lang="en-US" dirty="0" err="1"/>
              <a:t>dst</a:t>
            </a:r>
            <a:endParaRPr lang="id-ID" dirty="0"/>
          </a:p>
          <a:p>
            <a:pPr lvl="1"/>
            <a:endParaRPr lang="en-US" sz="1000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</a:rPr>
              <a:t>Entity</a:t>
            </a:r>
            <a:r>
              <a:rPr lang="en-US" dirty="0"/>
              <a:t> Class:</a:t>
            </a:r>
          </a:p>
          <a:p>
            <a:pPr lvl="1"/>
            <a:r>
              <a:rPr lang="en-US" dirty="0"/>
              <a:t>Class yang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data, </a:t>
            </a:r>
            <a:r>
              <a:rPr lang="en-US" dirty="0" err="1"/>
              <a:t>penyimpanan</a:t>
            </a:r>
            <a:r>
              <a:rPr lang="en-US" dirty="0"/>
              <a:t> data/file</a:t>
            </a:r>
          </a:p>
        </p:txBody>
      </p:sp>
    </p:spTree>
    <p:extLst>
      <p:ext uri="{BB962C8B-B14F-4D97-AF65-F5344CB8AC3E}">
        <p14:creationId xmlns:p14="http://schemas.microsoft.com/office/powerpoint/2010/main" val="164304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866188" cy="6477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088" t="3316" r="2734" b="29141"/>
          <a:stretch/>
        </p:blipFill>
        <p:spPr>
          <a:xfrm>
            <a:off x="2133600" y="291287"/>
            <a:ext cx="7848600" cy="656194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69B446-90F3-4358-8A75-FF632EBE7A4B}"/>
              </a:ext>
            </a:extLst>
          </p:cNvPr>
          <p:cNvSpPr/>
          <p:nvPr/>
        </p:nvSpPr>
        <p:spPr>
          <a:xfrm rot="16200000">
            <a:off x="1589075" y="2817017"/>
            <a:ext cx="6270654" cy="1219202"/>
          </a:xfrm>
          <a:prstGeom prst="roundRect">
            <a:avLst/>
          </a:prstGeom>
          <a:solidFill>
            <a:srgbClr val="FF0000">
              <a:alpha val="25098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d-ID" dirty="0" err="1">
                <a:solidFill>
                  <a:srgbClr val="FF0000"/>
                </a:solidFill>
              </a:rPr>
              <a:t>Boundary</a:t>
            </a:r>
            <a:r>
              <a:rPr lang="id-ID" dirty="0">
                <a:solidFill>
                  <a:srgbClr val="FF0000"/>
                </a:solidFill>
              </a:rPr>
              <a:t> (View)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611FBA-464B-492F-96AF-EBAC88E88530}"/>
              </a:ext>
            </a:extLst>
          </p:cNvPr>
          <p:cNvSpPr/>
          <p:nvPr/>
        </p:nvSpPr>
        <p:spPr>
          <a:xfrm rot="16200000">
            <a:off x="3262695" y="2743596"/>
            <a:ext cx="6270655" cy="1366042"/>
          </a:xfrm>
          <a:prstGeom prst="roundRect">
            <a:avLst/>
          </a:prstGeom>
          <a:solidFill>
            <a:srgbClr val="0070C0">
              <a:alpha val="25098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d-ID" b="1" dirty="0" err="1">
                <a:solidFill>
                  <a:srgbClr val="0070C0"/>
                </a:solidFill>
              </a:rPr>
              <a:t>Control</a:t>
            </a:r>
            <a:r>
              <a:rPr lang="id-ID" b="1" dirty="0">
                <a:solidFill>
                  <a:srgbClr val="0070C0"/>
                </a:solidFill>
              </a:rPr>
              <a:t> (</a:t>
            </a:r>
            <a:r>
              <a:rPr lang="id-ID" b="1" dirty="0" err="1">
                <a:solidFill>
                  <a:srgbClr val="0070C0"/>
                </a:solidFill>
              </a:rPr>
              <a:t>Controller</a:t>
            </a:r>
            <a:r>
              <a:rPr lang="id-ID" b="1" dirty="0">
                <a:solidFill>
                  <a:srgbClr val="0070C0"/>
                </a:solidFill>
              </a:rPr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8A45CF-E301-4629-9033-F5ABE82AEB14}"/>
              </a:ext>
            </a:extLst>
          </p:cNvPr>
          <p:cNvSpPr/>
          <p:nvPr/>
        </p:nvSpPr>
        <p:spPr>
          <a:xfrm rot="16200000">
            <a:off x="4741848" y="2845592"/>
            <a:ext cx="6270657" cy="1162049"/>
          </a:xfrm>
          <a:prstGeom prst="roundRect">
            <a:avLst/>
          </a:prstGeom>
          <a:solidFill>
            <a:srgbClr val="7030A0">
              <a:alpha val="25098"/>
            </a:srgbClr>
          </a:solidFill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id-ID" dirty="0" err="1">
                <a:solidFill>
                  <a:srgbClr val="7030A0"/>
                </a:solidFill>
              </a:rPr>
              <a:t>Entity</a:t>
            </a:r>
            <a:r>
              <a:rPr lang="id-ID" dirty="0">
                <a:solidFill>
                  <a:srgbClr val="7030A0"/>
                </a:solidFill>
              </a:rPr>
              <a:t> (Model)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83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(3): Execution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43" y="2946353"/>
            <a:ext cx="2705239" cy="1822544"/>
          </a:xfrm>
        </p:spPr>
      </p:pic>
    </p:spTree>
    <p:extLst>
      <p:ext uri="{BB962C8B-B14F-4D97-AF65-F5344CB8AC3E}">
        <p14:creationId xmlns:p14="http://schemas.microsoft.com/office/powerpoint/2010/main" val="331105253"/>
      </p:ext>
    </p:extLst>
  </p:cSld>
  <p:clrMapOvr>
    <a:masterClrMapping/>
  </p:clrMapOvr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(4): Fragment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158DE4-68CD-402C-B1D1-D6C4B9836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94" y="1862667"/>
            <a:ext cx="9305056" cy="4555066"/>
          </a:xfrm>
        </p:spPr>
      </p:pic>
    </p:spTree>
    <p:extLst>
      <p:ext uri="{BB962C8B-B14F-4D97-AF65-F5344CB8AC3E}">
        <p14:creationId xmlns:p14="http://schemas.microsoft.com/office/powerpoint/2010/main" val="373538861"/>
      </p:ext>
    </p:extLst>
  </p:cSld>
  <p:clrMapOvr>
    <a:masterClrMapping/>
  </p:clrMapOvr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E02B-4CF6-4BF4-BD0C-134468DD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Fragment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FD797-4A1A-4DB6-9872-60A05E957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82" y="1930400"/>
            <a:ext cx="7301571" cy="4216400"/>
          </a:xfrm>
        </p:spPr>
      </p:pic>
    </p:spTree>
    <p:extLst>
      <p:ext uri="{BB962C8B-B14F-4D97-AF65-F5344CB8AC3E}">
        <p14:creationId xmlns:p14="http://schemas.microsoft.com/office/powerpoint/2010/main" val="152578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007A-02E8-4776-BE87-44422EFE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(5): Message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2BFD220-E9CB-4089-BB79-84B7803BB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816129"/>
              </p:ext>
            </p:extLst>
          </p:nvPr>
        </p:nvGraphicFramePr>
        <p:xfrm>
          <a:off x="1113896" y="1846263"/>
          <a:ext cx="100583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904">
                  <a:extLst>
                    <a:ext uri="{9D8B030D-6E8A-4147-A177-3AD203B41FA5}">
                      <a16:colId xmlns:a16="http://schemas.microsoft.com/office/drawing/2014/main" val="404710378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569238601"/>
                    </a:ext>
                  </a:extLst>
                </a:gridCol>
                <a:gridCol w="5922960">
                  <a:extLst>
                    <a:ext uri="{9D8B030D-6E8A-4147-A177-3AD203B41FA5}">
                      <a16:colId xmlns:a16="http://schemas.microsoft.com/office/drawing/2014/main" val="385543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79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Synchronous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digambarkan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garis </a:t>
                      </a:r>
                      <a:r>
                        <a:rPr lang="en-US" dirty="0" err="1"/>
                        <a:t>tegas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panah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berisi</a:t>
                      </a:r>
                      <a:r>
                        <a:rPr lang="en-US" dirty="0"/>
                        <a:t>. </a:t>
                      </a:r>
                    </a:p>
                    <a:p>
                      <a:r>
                        <a:rPr lang="en-US" dirty="0" err="1"/>
                        <a:t>Menggambarkan</a:t>
                      </a:r>
                      <a:r>
                        <a:rPr lang="en-US" dirty="0"/>
                        <a:t> message yang </a:t>
                      </a:r>
                      <a:r>
                        <a:rPr lang="en-US" dirty="0" err="1"/>
                        <a:t>digunakan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komunikasi</a:t>
                      </a:r>
                      <a:r>
                        <a:rPr lang="en-US" dirty="0"/>
                        <a:t> normal </a:t>
                      </a:r>
                      <a:r>
                        <a:rPr lang="en-US" dirty="0" err="1"/>
                        <a:t>antara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pengirim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penerima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85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Return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Digambarkan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garis </a:t>
                      </a:r>
                      <a:r>
                        <a:rPr lang="en-US" dirty="0" err="1"/>
                        <a:t>putus-putus</a:t>
                      </a:r>
                      <a:endParaRPr lang="en-US" dirty="0"/>
                    </a:p>
                    <a:p>
                      <a:r>
                        <a:rPr lang="en-US" dirty="0" err="1"/>
                        <a:t>Menggambarkan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pengembalian</a:t>
                      </a:r>
                      <a:r>
                        <a:rPr lang="en-US" dirty="0"/>
                        <a:t>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9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self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Menggambarkan</a:t>
                      </a:r>
                      <a:r>
                        <a:rPr lang="en-US" dirty="0"/>
                        <a:t> message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lifeline yang </a:t>
                      </a:r>
                      <a:r>
                        <a:rPr lang="en-US" dirty="0" err="1"/>
                        <a:t>sama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9439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BE644A3-0026-44FC-9F1A-97CFFB343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750" y="2323722"/>
            <a:ext cx="1524078" cy="1181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D29FCC-5B73-4279-8138-1F7333CBD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801" y="3657227"/>
            <a:ext cx="1505027" cy="1085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582997-6CE0-41F1-B0DE-A571BFD5F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801" y="4912408"/>
            <a:ext cx="679485" cy="113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8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007A-02E8-4776-BE87-44422EFE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(5): Message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2BFD220-E9CB-4089-BB79-84B7803BB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855869"/>
              </p:ext>
            </p:extLst>
          </p:nvPr>
        </p:nvGraphicFramePr>
        <p:xfrm>
          <a:off x="1113896" y="1846263"/>
          <a:ext cx="10058397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904">
                  <a:extLst>
                    <a:ext uri="{9D8B030D-6E8A-4147-A177-3AD203B41FA5}">
                      <a16:colId xmlns:a16="http://schemas.microsoft.com/office/drawing/2014/main" val="404710378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569238601"/>
                    </a:ext>
                  </a:extLst>
                </a:gridCol>
                <a:gridCol w="5922960">
                  <a:extLst>
                    <a:ext uri="{9D8B030D-6E8A-4147-A177-3AD203B41FA5}">
                      <a16:colId xmlns:a16="http://schemas.microsoft.com/office/drawing/2014/main" val="385543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79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Asynchronous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Dibuat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garis </a:t>
                      </a:r>
                      <a:r>
                        <a:rPr lang="en-US" dirty="0" err="1"/>
                        <a:t>tegas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panah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terbuka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Menggambarkan</a:t>
                      </a:r>
                      <a:r>
                        <a:rPr lang="en-US" dirty="0"/>
                        <a:t> message yang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perlu</a:t>
                      </a:r>
                      <a:r>
                        <a:rPr lang="en-US" dirty="0"/>
                        <a:t> reply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Constructor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Men-create receiver.</a:t>
                      </a:r>
                    </a:p>
                    <a:p>
                      <a:r>
                        <a:rPr lang="en-US" dirty="0" err="1"/>
                        <a:t>Dicreate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secara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otomatis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otomatis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71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Destructor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Men-destroy receiver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3070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7525770-9250-49AB-AFCB-DEA3C69DE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485" y="2317693"/>
            <a:ext cx="1555830" cy="1111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B64ABE-FC9F-4FCF-9666-281AB66C7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485" y="3537903"/>
            <a:ext cx="1505027" cy="14351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727B2-9F36-4D9B-BA73-2AB6F55B9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433" y="5600644"/>
            <a:ext cx="1543129" cy="11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60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D4D4F0E-3A4A-4D35-B1FA-DFE3F18C4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4" y="152400"/>
            <a:ext cx="9144000" cy="64750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70CCE-8B0E-4547-8E83-CBA8082D6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89B5F6-3F29-4346-A43F-F9519985BF8B}"/>
              </a:ext>
            </a:extLst>
          </p:cNvPr>
          <p:cNvSpPr/>
          <p:nvPr/>
        </p:nvSpPr>
        <p:spPr>
          <a:xfrm>
            <a:off x="3657600" y="381000"/>
            <a:ext cx="6996544" cy="1598204"/>
          </a:xfrm>
          <a:prstGeom prst="roundRect">
            <a:avLst/>
          </a:prstGeom>
          <a:solidFill>
            <a:srgbClr val="FF9393">
              <a:alpha val="24706"/>
            </a:srgbClr>
          </a:solidFill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FF0000"/>
                </a:solidFill>
              </a:rPr>
              <a:t>Object Lifeline</a:t>
            </a:r>
          </a:p>
          <a:p>
            <a:endParaRPr lang="en-US" sz="3600" dirty="0">
              <a:solidFill>
                <a:srgbClr val="FF0000"/>
              </a:solidFill>
            </a:endParaRPr>
          </a:p>
          <a:p>
            <a:r>
              <a:rPr lang="en-US" sz="3600" dirty="0">
                <a:solidFill>
                  <a:srgbClr val="FF0000"/>
                </a:solidFill>
              </a:rPr>
              <a:t>(Class Candidate)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7C6DAB-99A8-4A0B-A445-8D835F5DC08C}"/>
              </a:ext>
            </a:extLst>
          </p:cNvPr>
          <p:cNvSpPr/>
          <p:nvPr/>
        </p:nvSpPr>
        <p:spPr>
          <a:xfrm>
            <a:off x="6096001" y="3048000"/>
            <a:ext cx="3352801" cy="1598204"/>
          </a:xfrm>
          <a:prstGeom prst="roundRect">
            <a:avLst/>
          </a:prstGeom>
          <a:solidFill>
            <a:srgbClr val="92D050">
              <a:alpha val="24706"/>
            </a:srgbClr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14663B"/>
                </a:solidFill>
              </a:rPr>
              <a:t>Message</a:t>
            </a:r>
            <a:br>
              <a:rPr lang="en-US" sz="2800" dirty="0">
                <a:solidFill>
                  <a:srgbClr val="14663B"/>
                </a:solidFill>
              </a:rPr>
            </a:br>
            <a:br>
              <a:rPr lang="en-US" sz="2800" dirty="0">
                <a:solidFill>
                  <a:srgbClr val="14663B"/>
                </a:solidFill>
              </a:rPr>
            </a:br>
            <a:r>
              <a:rPr lang="en-US" sz="2800" dirty="0">
                <a:solidFill>
                  <a:srgbClr val="14663B"/>
                </a:solidFill>
              </a:rPr>
              <a:t>(Method Candidate)</a:t>
            </a:r>
          </a:p>
        </p:txBody>
      </p:sp>
    </p:spTree>
    <p:extLst>
      <p:ext uri="{BB962C8B-B14F-4D97-AF65-F5344CB8AC3E}">
        <p14:creationId xmlns:p14="http://schemas.microsoft.com/office/powerpoint/2010/main" val="159223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5EABCE-2A8D-4663-BADB-A433340ED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67777C-3C22-4028-94B7-35E6E354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DBE78-0793-4C9A-9887-87B3EB719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62B33B-1A91-4E37-9A8A-7994078398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8" t="3316" r="2734" b="74519"/>
          <a:stretch/>
        </p:blipFill>
        <p:spPr>
          <a:xfrm>
            <a:off x="2133600" y="291288"/>
            <a:ext cx="7848600" cy="215335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FF9894-6F72-43D4-BD57-58445392C2AE}"/>
              </a:ext>
            </a:extLst>
          </p:cNvPr>
          <p:cNvSpPr txBox="1">
            <a:spLocks/>
          </p:cNvSpPr>
          <p:nvPr/>
        </p:nvSpPr>
        <p:spPr>
          <a:xfrm>
            <a:off x="1734235" y="2516532"/>
            <a:ext cx="4114800" cy="3962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</a:t>
            </a: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class </a:t>
            </a:r>
            <a:r>
              <a:rPr lang="en-US" sz="1800" dirty="0" err="1">
                <a:solidFill>
                  <a:srgbClr val="C00000"/>
                </a:solidFill>
                <a:latin typeface="Calibri" panose="020F0502020204030204"/>
              </a:rPr>
              <a:t>ManajerValidasi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{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>
              <a:lnSpc>
                <a:spcPts val="1200"/>
              </a:lnSpc>
              <a:spcBef>
                <a:spcPts val="600"/>
              </a:spcBef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private Login 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m_Login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;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endParaRPr lang="id-ID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int 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validasiKartu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(){</a:t>
            </a:r>
            <a:endParaRPr lang="id-ID" sz="1800" b="1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</a:t>
            </a: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b="1" dirty="0">
                <a:solidFill>
                  <a:prstClr val="black"/>
                </a:solidFill>
                <a:latin typeface="Calibri" panose="020F0502020204030204"/>
              </a:rPr>
              <a:t>            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}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endParaRPr lang="id-ID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int </a:t>
            </a:r>
            <a:r>
              <a:rPr lang="en-US" sz="1800" dirty="0" err="1">
                <a:solidFill>
                  <a:srgbClr val="C00000"/>
                </a:solidFill>
                <a:latin typeface="Calibri" panose="020F0502020204030204"/>
              </a:rPr>
              <a:t>validasiPIN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(){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int pin = 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m_Login.</a:t>
            </a:r>
            <a:r>
              <a:rPr lang="en-US" sz="1800" dirty="0" err="1">
                <a:solidFill>
                  <a:srgbClr val="0070C0"/>
                </a:solidFill>
                <a:latin typeface="Calibri" panose="020F0502020204030204"/>
              </a:rPr>
              <a:t>getPIN</a:t>
            </a:r>
            <a:r>
              <a:rPr lang="en-US" sz="1800" dirty="0">
                <a:solidFill>
                  <a:srgbClr val="0070C0"/>
                </a:solidFill>
                <a:latin typeface="Calibri" panose="020F0502020204030204"/>
              </a:rPr>
              <a:t>()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;</a:t>
            </a: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if(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pin.equals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pinuser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)){</a:t>
            </a: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	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MenuUtama.show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()};</a:t>
            </a: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b="1" dirty="0">
                <a:solidFill>
                  <a:prstClr val="black"/>
                </a:solidFill>
                <a:latin typeface="Calibri" panose="020F0502020204030204"/>
              </a:rPr>
              <a:t>            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}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>
              <a:lnSpc>
                <a:spcPts val="1200"/>
              </a:lnSpc>
              <a:spcBef>
                <a:spcPts val="600"/>
              </a:spcBef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void 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blokirKartu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(){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</a:t>
            </a:r>
            <a:endParaRPr lang="id-ID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</a:t>
            </a:r>
            <a:endParaRPr lang="id-ID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    }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b="1" dirty="0">
                <a:solidFill>
                  <a:prstClr val="black"/>
                </a:solidFill>
                <a:latin typeface="Calibri" panose="020F0502020204030204"/>
              </a:rPr>
              <a:t>    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}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BC8919-2D61-4021-8288-47C4CBEA9E76}"/>
              </a:ext>
            </a:extLst>
          </p:cNvPr>
          <p:cNvSpPr txBox="1">
            <a:spLocks/>
          </p:cNvSpPr>
          <p:nvPr/>
        </p:nvSpPr>
        <p:spPr>
          <a:xfrm>
            <a:off x="7044168" y="3129492"/>
            <a:ext cx="3274004" cy="2364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endParaRPr lang="id-ID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class </a:t>
            </a:r>
            <a:r>
              <a:rPr lang="en-US" sz="1800" dirty="0">
                <a:solidFill>
                  <a:srgbClr val="0070C0"/>
                </a:solidFill>
                <a:latin typeface="Calibri" panose="020F0502020204030204"/>
              </a:rPr>
              <a:t>Login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{</a:t>
            </a: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public int </a:t>
            </a:r>
            <a:r>
              <a:rPr lang="en-US" sz="1800" dirty="0" err="1">
                <a:solidFill>
                  <a:srgbClr val="0070C0"/>
                </a:solidFill>
                <a:latin typeface="Calibri" panose="020F0502020204030204"/>
              </a:rPr>
              <a:t>getPIN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(){</a:t>
            </a: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	</a:t>
            </a: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id-ID" sz="1800" dirty="0">
                <a:solidFill>
                  <a:prstClr val="black"/>
                </a:solidFill>
                <a:latin typeface="Calibri" panose="020F0502020204030204"/>
              </a:rPr>
              <a:t>        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}</a:t>
            </a: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91440" indent="0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A26E9C-733D-4B6E-A5F2-4E9704D97F66}"/>
              </a:ext>
            </a:extLst>
          </p:cNvPr>
          <p:cNvSpPr/>
          <p:nvPr/>
        </p:nvSpPr>
        <p:spPr>
          <a:xfrm>
            <a:off x="5067300" y="265000"/>
            <a:ext cx="2171700" cy="1716201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kumimoji="1" lang="en-ID" sz="440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BB528E-3A81-4C17-AD95-695C4197498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275028" y="1981200"/>
            <a:ext cx="878122" cy="9144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58A840-424E-4531-A0D0-A40F0D28024A}"/>
              </a:ext>
            </a:extLst>
          </p:cNvPr>
          <p:cNvSpPr/>
          <p:nvPr/>
        </p:nvSpPr>
        <p:spPr>
          <a:xfrm>
            <a:off x="6877478" y="403888"/>
            <a:ext cx="1595010" cy="2040759"/>
          </a:xfrm>
          <a:prstGeom prst="roundRect">
            <a:avLst/>
          </a:prstGeom>
          <a:noFill/>
          <a:ln w="5715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kumimoji="1" lang="en-ID" sz="440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75F0E8-CE31-49CD-899B-712202A602BB}"/>
              </a:ext>
            </a:extLst>
          </p:cNvPr>
          <p:cNvCxnSpPr>
            <a:cxnSpLocks/>
          </p:cNvCxnSpPr>
          <p:nvPr/>
        </p:nvCxnSpPr>
        <p:spPr>
          <a:xfrm>
            <a:off x="7696204" y="2470934"/>
            <a:ext cx="776285" cy="805666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11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System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https://www.youtube.com/watch?v=pCK6prSq8aw&amp;t=7s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27280" t="13860" r="27019" b="28752"/>
          <a:stretch/>
        </p:blipFill>
        <p:spPr>
          <a:xfrm>
            <a:off x="5566611" y="2204547"/>
            <a:ext cx="6625389" cy="4679737"/>
          </a:xfrm>
          <a:prstGeom prst="rect">
            <a:avLst/>
          </a:prstGeom>
        </p:spPr>
      </p:pic>
      <p:pic>
        <p:nvPicPr>
          <p:cNvPr id="6" name="F8084D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0708" y="2377191"/>
            <a:ext cx="271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Multilayer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https://www.youtube.com/watch?v=dvjMsoJeHjI&amp;t=274s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771" y="2222822"/>
            <a:ext cx="6092662" cy="463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2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553" y="194700"/>
            <a:ext cx="4766251" cy="6541073"/>
          </a:xfrm>
        </p:spPr>
      </p:pic>
    </p:spTree>
    <p:extLst>
      <p:ext uri="{BB962C8B-B14F-4D97-AF65-F5344CB8AC3E}">
        <p14:creationId xmlns:p14="http://schemas.microsoft.com/office/powerpoint/2010/main" val="849514778"/>
      </p:ext>
    </p:extLst>
  </p:cSld>
  <p:clrMapOvr>
    <a:masterClrMapping/>
  </p:clrMapOvr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sequence diagram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348" y="1846263"/>
            <a:ext cx="5287630" cy="4022725"/>
          </a:xfrm>
        </p:spPr>
      </p:pic>
    </p:spTree>
    <p:extLst>
      <p:ext uri="{BB962C8B-B14F-4D97-AF65-F5344CB8AC3E}">
        <p14:creationId xmlns:p14="http://schemas.microsoft.com/office/powerpoint/2010/main" val="883529782"/>
      </p:ext>
    </p:extLst>
  </p:cSld>
  <p:clrMapOvr>
    <a:masterClrMapping/>
  </p:clrMapOvr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858" y="990600"/>
            <a:ext cx="8143142" cy="5791200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 err="1"/>
              <a:t>Gunakan</a:t>
            </a:r>
            <a:r>
              <a:rPr lang="en-US" sz="2600" dirty="0"/>
              <a:t> </a:t>
            </a:r>
            <a:r>
              <a:rPr lang="en-US" sz="2600" dirty="0" err="1"/>
              <a:t>pola</a:t>
            </a:r>
            <a:r>
              <a:rPr lang="en-US" sz="2600" dirty="0"/>
              <a:t> Subject-Verb-Object (</a:t>
            </a:r>
            <a:r>
              <a:rPr lang="en-US" sz="2600" dirty="0">
                <a:solidFill>
                  <a:srgbClr val="C00000"/>
                </a:solidFill>
              </a:rPr>
              <a:t>S-V-O</a:t>
            </a:r>
            <a:r>
              <a:rPr lang="en-US" sz="2600" dirty="0"/>
              <a:t>) </a:t>
            </a:r>
            <a:r>
              <a:rPr lang="en-US" sz="2600" dirty="0" err="1"/>
              <a:t>untuk</a:t>
            </a:r>
            <a:r>
              <a:rPr lang="en-US" sz="2600" dirty="0"/>
              <a:t> use case diagram (Actor – Use Case) </a:t>
            </a:r>
            <a:r>
              <a:rPr lang="en-US" sz="2600" dirty="0" err="1"/>
              <a:t>dan</a:t>
            </a:r>
            <a:r>
              <a:rPr lang="en-US" sz="2600" dirty="0"/>
              <a:t> Activity Diagram (Partition – </a:t>
            </a:r>
            <a:r>
              <a:rPr lang="id-ID" sz="2600" dirty="0" err="1"/>
              <a:t>Action</a:t>
            </a:r>
            <a:r>
              <a:rPr lang="en-US" sz="2600" dirty="0"/>
              <a:t>)</a:t>
            </a:r>
          </a:p>
          <a:p>
            <a:r>
              <a:rPr lang="en-US" sz="2600" dirty="0"/>
              <a:t>Use </a:t>
            </a:r>
            <a:r>
              <a:rPr lang="id-ID" sz="2600" dirty="0"/>
              <a:t>C</a:t>
            </a:r>
            <a:r>
              <a:rPr lang="en-US" sz="2600" dirty="0" err="1"/>
              <a:t>ase</a:t>
            </a:r>
            <a:r>
              <a:rPr lang="en-US" sz="2600" dirty="0"/>
              <a:t> </a:t>
            </a:r>
            <a:r>
              <a:rPr lang="id-ID" sz="2600" dirty="0"/>
              <a:t>D</a:t>
            </a:r>
            <a:r>
              <a:rPr lang="en-US" sz="2600" dirty="0" err="1"/>
              <a:t>iagram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C00000"/>
                </a:solidFill>
              </a:rPr>
              <a:t>apa</a:t>
            </a:r>
            <a:r>
              <a:rPr lang="en-US" sz="2600" dirty="0">
                <a:solidFill>
                  <a:srgbClr val="C00000"/>
                </a:solidFill>
              </a:rPr>
              <a:t> yang </a:t>
            </a:r>
            <a:r>
              <a:rPr lang="en-US" sz="2600" dirty="0" err="1">
                <a:solidFill>
                  <a:srgbClr val="C00000"/>
                </a:solidFill>
              </a:rPr>
              <a:t>dilakukan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id-ID" sz="2600" dirty="0">
                <a:solidFill>
                  <a:srgbClr val="C00000"/>
                </a:solidFill>
              </a:rPr>
              <a:t>A</a:t>
            </a:r>
            <a:r>
              <a:rPr lang="en-US" sz="2600" dirty="0" err="1">
                <a:solidFill>
                  <a:srgbClr val="C00000"/>
                </a:solidFill>
              </a:rPr>
              <a:t>ctor</a:t>
            </a:r>
            <a:r>
              <a:rPr lang="en-US" sz="2600" dirty="0">
                <a:solidFill>
                  <a:srgbClr val="C00000"/>
                </a:solidFill>
              </a:rPr>
              <a:t> di s</a:t>
            </a:r>
            <a:r>
              <a:rPr lang="id-ID" sz="2600" dirty="0">
                <a:solidFill>
                  <a:srgbClr val="C00000"/>
                </a:solidFill>
              </a:rPr>
              <a:t>i</a:t>
            </a:r>
            <a:r>
              <a:rPr lang="en-US" sz="2600" dirty="0">
                <a:solidFill>
                  <a:srgbClr val="C00000"/>
                </a:solidFill>
              </a:rPr>
              <a:t>stem</a:t>
            </a:r>
            <a:r>
              <a:rPr lang="en-US" sz="2600" dirty="0"/>
              <a:t>, </a:t>
            </a:r>
            <a:r>
              <a:rPr lang="en-US" sz="2600" dirty="0" err="1"/>
              <a:t>bukan</a:t>
            </a:r>
            <a:r>
              <a:rPr lang="en-US" sz="2600" dirty="0"/>
              <a:t> </a:t>
            </a:r>
            <a:r>
              <a:rPr lang="en-US" sz="2600" dirty="0" err="1"/>
              <a:t>apa</a:t>
            </a:r>
            <a:r>
              <a:rPr lang="en-US" sz="2600" dirty="0"/>
              <a:t> yang </a:t>
            </a:r>
            <a:r>
              <a:rPr lang="en-US" sz="2600" dirty="0" err="1"/>
              <a:t>dilakukan</a:t>
            </a:r>
            <a:r>
              <a:rPr lang="en-US" sz="2600" dirty="0"/>
              <a:t> </a:t>
            </a:r>
            <a:r>
              <a:rPr lang="en-US" sz="2600" dirty="0" err="1"/>
              <a:t>oleh</a:t>
            </a:r>
            <a:r>
              <a:rPr lang="en-US" sz="2600" dirty="0"/>
              <a:t> s</a:t>
            </a:r>
            <a:r>
              <a:rPr lang="id-ID" sz="2600" dirty="0"/>
              <a:t>i</a:t>
            </a:r>
            <a:r>
              <a:rPr lang="en-US" sz="2600" dirty="0"/>
              <a:t>stem</a:t>
            </a:r>
          </a:p>
          <a:p>
            <a:r>
              <a:rPr lang="en-US" sz="2600" dirty="0" err="1"/>
              <a:t>Pada</a:t>
            </a:r>
            <a:r>
              <a:rPr lang="en-US" sz="2600" dirty="0"/>
              <a:t> </a:t>
            </a:r>
            <a:r>
              <a:rPr lang="id-ID" sz="2600" dirty="0"/>
              <a:t>S</a:t>
            </a:r>
            <a:r>
              <a:rPr lang="en-US" sz="2600" dirty="0" err="1"/>
              <a:t>equence</a:t>
            </a:r>
            <a:r>
              <a:rPr lang="en-US" sz="2600" dirty="0"/>
              <a:t> </a:t>
            </a:r>
            <a:r>
              <a:rPr lang="id-ID" sz="2600" dirty="0"/>
              <a:t>D</a:t>
            </a:r>
            <a:r>
              <a:rPr lang="en-US" sz="2600" dirty="0" err="1"/>
              <a:t>iagram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C00000"/>
                </a:solidFill>
              </a:rPr>
              <a:t>perhatikan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transaksi</a:t>
            </a:r>
            <a:r>
              <a:rPr lang="en-US" sz="2600" dirty="0">
                <a:solidFill>
                  <a:srgbClr val="C00000"/>
                </a:solidFill>
              </a:rPr>
              <a:t> yang </a:t>
            </a:r>
            <a:r>
              <a:rPr lang="en-US" sz="2600" dirty="0" err="1">
                <a:solidFill>
                  <a:srgbClr val="C00000"/>
                </a:solidFill>
              </a:rPr>
              <a:t>harusnya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datangnya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dari</a:t>
            </a:r>
            <a:r>
              <a:rPr lang="en-US" sz="2600" dirty="0">
                <a:solidFill>
                  <a:srgbClr val="C00000"/>
                </a:solidFill>
              </a:rPr>
              <a:t> actor</a:t>
            </a:r>
            <a:r>
              <a:rPr lang="en-US" sz="2600" dirty="0"/>
              <a:t>,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bukan</a:t>
            </a:r>
            <a:r>
              <a:rPr lang="en-US" sz="2600" dirty="0"/>
              <a:t> </a:t>
            </a:r>
            <a:r>
              <a:rPr lang="en-US" sz="2600" dirty="0" err="1"/>
              <a:t>dari</a:t>
            </a:r>
            <a:r>
              <a:rPr lang="en-US" sz="2600" dirty="0"/>
              <a:t> object lain</a:t>
            </a:r>
          </a:p>
          <a:p>
            <a:r>
              <a:rPr lang="en-US" sz="2600" dirty="0"/>
              <a:t>Naming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object </a:t>
            </a:r>
            <a:r>
              <a:rPr lang="en-US" sz="2600" dirty="0" err="1">
                <a:solidFill>
                  <a:srgbClr val="C00000"/>
                </a:solidFill>
              </a:rPr>
              <a:t>dan</a:t>
            </a:r>
            <a:r>
              <a:rPr lang="en-US" sz="2600" dirty="0">
                <a:solidFill>
                  <a:srgbClr val="C00000"/>
                </a:solidFill>
              </a:rPr>
              <a:t> class </a:t>
            </a:r>
            <a:r>
              <a:rPr lang="en-US" sz="2600" dirty="0" err="1">
                <a:solidFill>
                  <a:srgbClr val="C00000"/>
                </a:solidFill>
              </a:rPr>
              <a:t>adalah</a:t>
            </a:r>
            <a:r>
              <a:rPr lang="en-US" sz="2600" dirty="0">
                <a:solidFill>
                  <a:srgbClr val="C00000"/>
                </a:solidFill>
              </a:rPr>
              <a:t> kata </a:t>
            </a:r>
            <a:r>
              <a:rPr lang="en-US" sz="2600" dirty="0" err="1">
                <a:solidFill>
                  <a:srgbClr val="C00000"/>
                </a:solidFill>
              </a:rPr>
              <a:t>benda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(noun), </a:t>
            </a:r>
            <a:r>
              <a:rPr lang="en-US" sz="2600" dirty="0" err="1"/>
              <a:t>untuk</a:t>
            </a:r>
            <a:r>
              <a:rPr lang="en-US" sz="2600" dirty="0"/>
              <a:t> message di </a:t>
            </a:r>
            <a:r>
              <a:rPr lang="id-ID" sz="2600" dirty="0"/>
              <a:t>S</a:t>
            </a:r>
            <a:r>
              <a:rPr lang="en-US" sz="2600" dirty="0" err="1"/>
              <a:t>equence</a:t>
            </a:r>
            <a:r>
              <a:rPr lang="en-US" sz="2600" dirty="0"/>
              <a:t> </a:t>
            </a:r>
            <a:r>
              <a:rPr lang="id-ID" sz="2600" dirty="0"/>
              <a:t>D</a:t>
            </a:r>
            <a:r>
              <a:rPr lang="en-US" sz="2600" dirty="0" err="1"/>
              <a:t>iagram</a:t>
            </a:r>
            <a:r>
              <a:rPr lang="en-US" sz="2600" dirty="0"/>
              <a:t> (method) </a:t>
            </a:r>
            <a:r>
              <a:rPr lang="en-US" sz="2600" dirty="0" err="1"/>
              <a:t>adalah</a:t>
            </a:r>
            <a:r>
              <a:rPr lang="en-US" sz="2600" dirty="0"/>
              <a:t> kata</a:t>
            </a:r>
            <a:r>
              <a:rPr lang="id-ID" sz="2600" dirty="0"/>
              <a:t> </a:t>
            </a:r>
            <a:r>
              <a:rPr lang="en-US" sz="2600" dirty="0" err="1"/>
              <a:t>kerja</a:t>
            </a:r>
            <a:endParaRPr lang="en-US" sz="2600" dirty="0"/>
          </a:p>
          <a:p>
            <a:r>
              <a:rPr lang="id-ID" sz="2600" dirty="0" err="1"/>
              <a:t>Object</a:t>
            </a:r>
            <a:r>
              <a:rPr lang="id-ID" sz="2600" dirty="0"/>
              <a:t> </a:t>
            </a:r>
            <a:r>
              <a:rPr lang="id-ID" sz="2600" dirty="0" err="1"/>
              <a:t>lifeline</a:t>
            </a:r>
            <a:r>
              <a:rPr lang="id-ID" sz="2600" dirty="0"/>
              <a:t> dan </a:t>
            </a:r>
            <a:r>
              <a:rPr lang="id-ID" sz="2600" dirty="0" err="1"/>
              <a:t>message</a:t>
            </a:r>
            <a:r>
              <a:rPr lang="id-ID" sz="2600" dirty="0"/>
              <a:t> di </a:t>
            </a:r>
            <a:r>
              <a:rPr lang="id-ID" sz="2600" dirty="0" err="1"/>
              <a:t>Sequence</a:t>
            </a:r>
            <a:r>
              <a:rPr lang="id-ID" sz="2600" dirty="0"/>
              <a:t> Diagram dan nama </a:t>
            </a:r>
            <a:r>
              <a:rPr lang="id-ID" sz="2600" dirty="0" err="1"/>
              <a:t>class</a:t>
            </a:r>
            <a:r>
              <a:rPr lang="id-ID" sz="2600" dirty="0"/>
              <a:t> di Class Diagram, </a:t>
            </a:r>
            <a:r>
              <a:rPr lang="id-ID" sz="2600" dirty="0">
                <a:solidFill>
                  <a:srgbClr val="C00000"/>
                </a:solidFill>
              </a:rPr>
              <a:t>tidak boleh menggunakan spasi</a:t>
            </a:r>
            <a:r>
              <a:rPr lang="id-ID" sz="2600" dirty="0"/>
              <a:t>, karena akan jadi Class dan </a:t>
            </a:r>
            <a:r>
              <a:rPr lang="id-ID" sz="2600" dirty="0" err="1"/>
              <a:t>Method</a:t>
            </a:r>
            <a:r>
              <a:rPr lang="id-ID" sz="2600" dirty="0"/>
              <a:t> di kode program</a:t>
            </a:r>
            <a:endParaRPr lang="en-US" sz="2600" dirty="0"/>
          </a:p>
          <a:p>
            <a:r>
              <a:rPr lang="id-ID" sz="2600" dirty="0">
                <a:solidFill>
                  <a:srgbClr val="C00000"/>
                </a:solidFill>
              </a:rPr>
              <a:t>Actor </a:t>
            </a:r>
            <a:r>
              <a:rPr lang="en-US" sz="2600" dirty="0">
                <a:solidFill>
                  <a:srgbClr val="C00000"/>
                </a:solidFill>
              </a:rPr>
              <a:t>(</a:t>
            </a:r>
            <a:r>
              <a:rPr lang="en-US" sz="2600" dirty="0" err="1">
                <a:solidFill>
                  <a:srgbClr val="C00000"/>
                </a:solidFill>
              </a:rPr>
              <a:t>manusia</a:t>
            </a:r>
            <a:r>
              <a:rPr lang="en-US" sz="2600" dirty="0">
                <a:solidFill>
                  <a:srgbClr val="C00000"/>
                </a:solidFill>
              </a:rPr>
              <a:t>) </a:t>
            </a:r>
            <a:r>
              <a:rPr lang="id-ID" sz="2600" dirty="0"/>
              <a:t>akan mengirim </a:t>
            </a:r>
            <a:r>
              <a:rPr lang="id-ID" sz="2600" dirty="0">
                <a:solidFill>
                  <a:srgbClr val="C00000"/>
                </a:solidFill>
              </a:rPr>
              <a:t>message hanya ke Boundary Class</a:t>
            </a:r>
            <a:r>
              <a:rPr lang="id-ID" sz="2600" dirty="0"/>
              <a:t>, tidak ke Control atau Entity Class</a:t>
            </a:r>
            <a:r>
              <a:rPr lang="en-US" sz="2600" dirty="0"/>
              <a:t>. </a:t>
            </a:r>
            <a:r>
              <a:rPr lang="en-US" sz="2600" dirty="0" err="1"/>
              <a:t>Sedangkan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Actor (System) </a:t>
            </a:r>
            <a:r>
              <a:rPr lang="en-US" sz="2600" dirty="0" err="1"/>
              <a:t>akan</a:t>
            </a:r>
            <a:r>
              <a:rPr lang="en-US" sz="2600" dirty="0"/>
              <a:t> </a:t>
            </a:r>
            <a:r>
              <a:rPr lang="en-US" sz="2600" dirty="0" err="1"/>
              <a:t>mengirim</a:t>
            </a:r>
            <a:r>
              <a:rPr lang="en-US" sz="2600" dirty="0"/>
              <a:t> message </a:t>
            </a:r>
            <a:r>
              <a:rPr lang="en-US" sz="2600" dirty="0" err="1"/>
              <a:t>ke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Control</a:t>
            </a:r>
            <a:endParaRPr lang="id-ID" sz="2600" dirty="0">
              <a:solidFill>
                <a:srgbClr val="C00000"/>
              </a:solidFill>
            </a:endParaRPr>
          </a:p>
          <a:p>
            <a:r>
              <a:rPr lang="id-ID" sz="2600" dirty="0" err="1">
                <a:solidFill>
                  <a:srgbClr val="C00000"/>
                </a:solidFill>
              </a:rPr>
              <a:t>Entity</a:t>
            </a:r>
            <a:r>
              <a:rPr lang="id-ID" sz="2600" dirty="0">
                <a:solidFill>
                  <a:srgbClr val="C00000"/>
                </a:solidFill>
              </a:rPr>
              <a:t> Class </a:t>
            </a:r>
            <a:r>
              <a:rPr lang="id-ID" sz="2600" dirty="0"/>
              <a:t>bukan </a:t>
            </a:r>
            <a:r>
              <a:rPr lang="id-ID" sz="2600" dirty="0" err="1"/>
              <a:t>consumer</a:t>
            </a:r>
            <a:r>
              <a:rPr lang="id-ID" sz="2600" dirty="0"/>
              <a:t>, jadi </a:t>
            </a:r>
            <a:r>
              <a:rPr lang="id-ID" sz="2600" dirty="0">
                <a:solidFill>
                  <a:srgbClr val="C00000"/>
                </a:solidFill>
              </a:rPr>
              <a:t>tidak pernah mengirim </a:t>
            </a:r>
            <a:r>
              <a:rPr lang="id-ID" sz="2600" dirty="0" err="1">
                <a:solidFill>
                  <a:srgbClr val="C00000"/>
                </a:solidFill>
              </a:rPr>
              <a:t>message</a:t>
            </a:r>
            <a:r>
              <a:rPr lang="id-ID" sz="2600" dirty="0">
                <a:solidFill>
                  <a:srgbClr val="C00000"/>
                </a:solidFill>
              </a:rPr>
              <a:t> </a:t>
            </a:r>
            <a:r>
              <a:rPr lang="id-ID" sz="2600" dirty="0"/>
              <a:t>ke </a:t>
            </a:r>
            <a:r>
              <a:rPr lang="id-ID" sz="2600" dirty="0" err="1"/>
              <a:t>Boundary</a:t>
            </a:r>
            <a:r>
              <a:rPr lang="id-ID" sz="2600" dirty="0"/>
              <a:t> atau </a:t>
            </a:r>
            <a:r>
              <a:rPr lang="id-ID" sz="2600" dirty="0" err="1"/>
              <a:t>Control</a:t>
            </a:r>
            <a:r>
              <a:rPr lang="id-ID" sz="2600" dirty="0"/>
              <a:t> Class</a:t>
            </a:r>
          </a:p>
          <a:p>
            <a:r>
              <a:rPr lang="en-US" sz="2600" dirty="0"/>
              <a:t>Boundary class </a:t>
            </a:r>
            <a:r>
              <a:rPr lang="en-US" sz="2600" dirty="0" err="1"/>
              <a:t>akan</a:t>
            </a:r>
            <a:r>
              <a:rPr lang="en-US" sz="2600" dirty="0"/>
              <a:t> </a:t>
            </a:r>
            <a:r>
              <a:rPr lang="en-US" sz="2600" dirty="0" err="1"/>
              <a:t>menjadi</a:t>
            </a:r>
            <a:r>
              <a:rPr lang="en-US" sz="2600" dirty="0"/>
              <a:t> UI Design, entity class </a:t>
            </a:r>
            <a:r>
              <a:rPr lang="en-US" sz="2600" dirty="0" err="1"/>
              <a:t>akan</a:t>
            </a:r>
            <a:r>
              <a:rPr lang="en-US" sz="2600" dirty="0"/>
              <a:t> </a:t>
            </a:r>
            <a:r>
              <a:rPr lang="en-US" sz="2600" dirty="0" err="1"/>
              <a:t>menjadi</a:t>
            </a:r>
            <a:r>
              <a:rPr lang="en-US" sz="2600" dirty="0"/>
              <a:t> Data Model</a:t>
            </a:r>
            <a:endParaRPr lang="id-ID" sz="2600" dirty="0"/>
          </a:p>
          <a:p>
            <a:r>
              <a:rPr lang="en-US" sz="2600" dirty="0"/>
              <a:t>Class diagram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menunjukkan</a:t>
            </a:r>
            <a:r>
              <a:rPr lang="en-US" sz="2600" dirty="0"/>
              <a:t> </a:t>
            </a:r>
            <a:r>
              <a:rPr lang="en-US" sz="2600" dirty="0" err="1"/>
              <a:t>alur</a:t>
            </a:r>
            <a:r>
              <a:rPr lang="en-US" sz="2600" dirty="0"/>
              <a:t>, </a:t>
            </a:r>
            <a:r>
              <a:rPr lang="en-US" sz="2600" dirty="0" err="1"/>
              <a:t>tapi</a:t>
            </a:r>
            <a:r>
              <a:rPr lang="en-US" sz="2600" dirty="0"/>
              <a:t> </a:t>
            </a:r>
            <a:r>
              <a:rPr lang="en-US" sz="2600" dirty="0" err="1"/>
              <a:t>menunjukkan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C00000"/>
                </a:solidFill>
              </a:rPr>
              <a:t>struktur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dan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komposisi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dari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>
                <a:solidFill>
                  <a:srgbClr val="C00000"/>
                </a:solidFill>
              </a:rPr>
              <a:t>sistem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 err="1"/>
              <a:t>yg</a:t>
            </a:r>
            <a:r>
              <a:rPr lang="en-US" sz="2600" dirty="0"/>
              <a:t> </a:t>
            </a:r>
            <a:r>
              <a:rPr lang="en-US" sz="2600" dirty="0" err="1"/>
              <a:t>kita</a:t>
            </a:r>
            <a:r>
              <a:rPr lang="en-US" sz="2600" dirty="0"/>
              <a:t> </a:t>
            </a:r>
            <a:r>
              <a:rPr lang="en-US" sz="2600" dirty="0" err="1"/>
              <a:t>bangun</a:t>
            </a:r>
            <a:endParaRPr lang="en-US" sz="2600" dirty="0"/>
          </a:p>
          <a:p>
            <a:endParaRPr lang="en-US" sz="2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Catatan</a:t>
            </a:r>
            <a:r>
              <a:rPr lang="en-US" dirty="0"/>
              <a:t> </a:t>
            </a:r>
            <a:r>
              <a:rPr lang="id-ID" dirty="0"/>
              <a:t>Pola Kesalahan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238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888" y="2466976"/>
            <a:ext cx="8520112" cy="2095501"/>
          </a:xfrm>
        </p:spPr>
        <p:txBody>
          <a:bodyPr>
            <a:normAutofit/>
          </a:bodyPr>
          <a:lstStyle/>
          <a:p>
            <a:r>
              <a:rPr lang="id-ID" sz="3600" dirty="0"/>
              <a:t>Studi Kasus: </a:t>
            </a:r>
            <a:r>
              <a:rPr lang="id-ID" sz="3600" dirty="0" err="1"/>
              <a:t>Sequence</a:t>
            </a:r>
            <a:r>
              <a:rPr lang="id-ID" sz="3600" dirty="0"/>
              <a:t> Diagram Sistem ATM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880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Diagram: </a:t>
            </a:r>
            <a:r>
              <a:rPr lang="en-US" dirty="0" err="1"/>
              <a:t>Memasukkan</a:t>
            </a:r>
            <a:r>
              <a:rPr lang="en-US" dirty="0"/>
              <a:t> </a:t>
            </a:r>
            <a:r>
              <a:rPr lang="en-US" dirty="0" err="1"/>
              <a:t>Kartu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13" t="5384" r="1513" b="24505"/>
          <a:stretch/>
        </p:blipFill>
        <p:spPr>
          <a:xfrm>
            <a:off x="2189435" y="990600"/>
            <a:ext cx="8249965" cy="549997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125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09550"/>
            <a:ext cx="8866188" cy="647700"/>
          </a:xfrm>
        </p:spPr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en-US" dirty="0" err="1"/>
              <a:t>Memasukkan</a:t>
            </a:r>
            <a:r>
              <a:rPr lang="en-US" dirty="0"/>
              <a:t> </a:t>
            </a:r>
            <a:r>
              <a:rPr lang="en-US" dirty="0" err="1"/>
              <a:t>Kartu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465" t="6890" r="2714" b="2352"/>
          <a:stretch/>
        </p:blipFill>
        <p:spPr>
          <a:xfrm>
            <a:off x="2333625" y="1002896"/>
            <a:ext cx="7724775" cy="583001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709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Diagram: </a:t>
            </a:r>
            <a:r>
              <a:rPr lang="en-US" dirty="0" err="1"/>
              <a:t>Memasukkan</a:t>
            </a:r>
            <a:r>
              <a:rPr lang="en-US" dirty="0"/>
              <a:t> PIN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06" t="4586" r="2406" b="10850"/>
          <a:stretch/>
        </p:blipFill>
        <p:spPr>
          <a:xfrm>
            <a:off x="2514600" y="838200"/>
            <a:ext cx="7524751" cy="580480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122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866188" cy="647700"/>
          </a:xfrm>
        </p:spPr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en-US" dirty="0" err="1"/>
              <a:t>Memasukkan</a:t>
            </a:r>
            <a:r>
              <a:rPr lang="en-US" dirty="0"/>
              <a:t> PIN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088" t="3316" r="2734" b="29141"/>
          <a:stretch/>
        </p:blipFill>
        <p:spPr>
          <a:xfrm>
            <a:off x="2552700" y="749205"/>
            <a:ext cx="7086600" cy="592486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129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Saldo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63" t="4595" r="2463" b="23805"/>
          <a:stretch/>
        </p:blipFill>
        <p:spPr>
          <a:xfrm>
            <a:off x="1752600" y="990600"/>
            <a:ext cx="8564138" cy="48768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286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Saldo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583" t="5725" r="1832" b="30077"/>
          <a:stretch/>
        </p:blipFill>
        <p:spPr>
          <a:xfrm>
            <a:off x="1629103" y="1447800"/>
            <a:ext cx="8933795" cy="3810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89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Diagram: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Uang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13" t="5487" r="1513" b="5487"/>
          <a:stretch/>
        </p:blipFill>
        <p:spPr>
          <a:xfrm>
            <a:off x="2238375" y="838200"/>
            <a:ext cx="7715250" cy="584488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820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Uang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208" t="6580" r="1908" b="2632"/>
          <a:stretch/>
        </p:blipFill>
        <p:spPr>
          <a:xfrm>
            <a:off x="1524000" y="943628"/>
            <a:ext cx="9144000" cy="576197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94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Diagram: </a:t>
            </a:r>
            <a:r>
              <a:rPr lang="id-ID" dirty="0"/>
              <a:t>Mengirim</a:t>
            </a:r>
            <a:r>
              <a:rPr lang="en-US" dirty="0"/>
              <a:t> </a:t>
            </a:r>
            <a:r>
              <a:rPr lang="en-US" dirty="0" err="1"/>
              <a:t>Uang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06" t="3988" r="2406" b="3988"/>
          <a:stretch/>
        </p:blipFill>
        <p:spPr>
          <a:xfrm>
            <a:off x="2724150" y="732610"/>
            <a:ext cx="6743700" cy="597299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95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52401"/>
            <a:ext cx="8362950" cy="685800"/>
          </a:xfrm>
        </p:spPr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id-ID" dirty="0"/>
              <a:t>Mengirim</a:t>
            </a:r>
            <a:r>
              <a:rPr lang="en-US" dirty="0"/>
              <a:t> </a:t>
            </a:r>
            <a:r>
              <a:rPr lang="en-US" dirty="0" err="1"/>
              <a:t>Uang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800" t="5008" r="1234" b="5008"/>
          <a:stretch/>
        </p:blipFill>
        <p:spPr>
          <a:xfrm>
            <a:off x="2081213" y="838202"/>
            <a:ext cx="8029575" cy="585941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503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Activity Diagram: Men</a:t>
            </a:r>
            <a:r>
              <a:rPr lang="id-ID" sz="2800" dirty="0" err="1"/>
              <a:t>gupdate</a:t>
            </a:r>
            <a:r>
              <a:rPr lang="id-ID" sz="2800" dirty="0"/>
              <a:t> Informasi Kotak Deposit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746" t="5577" r="3207" b="3931"/>
          <a:stretch/>
        </p:blipFill>
        <p:spPr>
          <a:xfrm>
            <a:off x="2590800" y="762000"/>
            <a:ext cx="7162800" cy="60608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750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Sequence Diagram: </a:t>
            </a:r>
            <a:r>
              <a:rPr lang="id-ID" sz="2800" dirty="0" err="1"/>
              <a:t>Mengupdate</a:t>
            </a:r>
            <a:r>
              <a:rPr lang="id-ID" sz="2800" dirty="0"/>
              <a:t> Informasi Kotak Deposit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465" t="5725" r="2714" b="16794"/>
          <a:stretch/>
        </p:blipFill>
        <p:spPr>
          <a:xfrm>
            <a:off x="1714500" y="806669"/>
            <a:ext cx="8763000" cy="578688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49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Diagram: </a:t>
            </a:r>
            <a:r>
              <a:rPr lang="id-ID" dirty="0"/>
              <a:t>Keluar Sistem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56" t="4591" r="1337" b="7955"/>
          <a:stretch/>
        </p:blipFill>
        <p:spPr>
          <a:xfrm>
            <a:off x="2476500" y="730554"/>
            <a:ext cx="7239000" cy="597504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062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866188" cy="647700"/>
          </a:xfrm>
        </p:spPr>
        <p:txBody>
          <a:bodyPr>
            <a:normAutofit/>
          </a:bodyPr>
          <a:lstStyle/>
          <a:p>
            <a:r>
              <a:rPr lang="en-US" dirty="0"/>
              <a:t>Sequence Diagram: </a:t>
            </a:r>
            <a:r>
              <a:rPr lang="id-ID" dirty="0"/>
              <a:t>Keluar Sistem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028" t="5725" r="2885" b="30077"/>
          <a:stretch/>
        </p:blipFill>
        <p:spPr>
          <a:xfrm>
            <a:off x="1828800" y="1219200"/>
            <a:ext cx="8534402" cy="4267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546E0E4-908A-4724-B308-E4F6AE4FA0DD}" type="slidenum">
              <a:rPr kumimoji="1"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ＭＳ Ｐゴシック" pitchFamily="50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kumimoji="1" 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097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5|29.7|22.5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607</TotalTime>
  <Words>753</Words>
  <Application>Microsoft Office PowerPoint</Application>
  <PresentationFormat>Widescreen</PresentationFormat>
  <Paragraphs>172</Paragraphs>
  <Slides>36</Slides>
  <Notes>0</Notes>
  <HiddenSlides>3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ＭＳ Ｐゴシック</vt:lpstr>
      <vt:lpstr>Arial</vt:lpstr>
      <vt:lpstr>Calibri</vt:lpstr>
      <vt:lpstr>Calibri Light</vt:lpstr>
      <vt:lpstr>Constantia</vt:lpstr>
      <vt:lpstr>Retrospect</vt:lpstr>
      <vt:lpstr>1_Office Theme</vt:lpstr>
      <vt:lpstr>Sequence Diagram</vt:lpstr>
      <vt:lpstr>Sequence diagram?</vt:lpstr>
      <vt:lpstr>PowerPoint Presentation</vt:lpstr>
      <vt:lpstr>Simbol (1): Actor</vt:lpstr>
      <vt:lpstr>Simbol (2): LifeLine</vt:lpstr>
      <vt:lpstr>Simbol (2): LifeLine</vt:lpstr>
      <vt:lpstr>Denert’s Law (1991)</vt:lpstr>
      <vt:lpstr>Sequence Diagram berbasis Arsitektur Boundary – Control – Entity </vt:lpstr>
      <vt:lpstr>PowerPoint Presentation</vt:lpstr>
      <vt:lpstr>Simbol (3): Execution</vt:lpstr>
      <vt:lpstr>Simbol (4): Fragment</vt:lpstr>
      <vt:lpstr>Contoh Fragment</vt:lpstr>
      <vt:lpstr>Simbol (5): Message</vt:lpstr>
      <vt:lpstr>Simbol (5): Message</vt:lpstr>
      <vt:lpstr>PowerPoint Presentation</vt:lpstr>
      <vt:lpstr>PowerPoint Presentation</vt:lpstr>
      <vt:lpstr>Contoh System Sequence Diagram</vt:lpstr>
      <vt:lpstr>Contoh Multilayer Sequence Diagram</vt:lpstr>
      <vt:lpstr>Contoh</vt:lpstr>
      <vt:lpstr>Contoh sequence diagram</vt:lpstr>
      <vt:lpstr>Catatan Pola Kesalahan </vt:lpstr>
      <vt:lpstr>Studi Kasus: Sequence Diagram Sistem ATM</vt:lpstr>
      <vt:lpstr>Activity Diagram: Memasukkan Kartu</vt:lpstr>
      <vt:lpstr>Sequence Diagram: Memasukkan Kartu</vt:lpstr>
      <vt:lpstr>Activity Diagram: Memasukkan PIN</vt:lpstr>
      <vt:lpstr>Sequence Diagram: Memasukkan PIN</vt:lpstr>
      <vt:lpstr>Activity Diagram: Mengecek Saldo</vt:lpstr>
      <vt:lpstr>Sequence Diagram: Mengecek Saldo</vt:lpstr>
      <vt:lpstr>Activity Diagram: Mengambil Uang</vt:lpstr>
      <vt:lpstr>Sequence Diagram: Mengambil Uang</vt:lpstr>
      <vt:lpstr>Activity Diagram: Mengirim Uang</vt:lpstr>
      <vt:lpstr>Sequence Diagram: Mengirim Uang</vt:lpstr>
      <vt:lpstr>Activity Diagram: Mengupdate Informasi Kotak Deposit</vt:lpstr>
      <vt:lpstr>Sequence Diagram: Mengupdate Informasi Kotak Deposit</vt:lpstr>
      <vt:lpstr>Activity Diagram: Keluar Sistem</vt:lpstr>
      <vt:lpstr>Sequence Diagram: Keluar Sistem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Diagram</dc:title>
  <dc:creator>siti sarah</dc:creator>
  <cp:lastModifiedBy>siti sarah</cp:lastModifiedBy>
  <cp:revision>23</cp:revision>
  <dcterms:created xsi:type="dcterms:W3CDTF">2017-12-06T23:24:38Z</dcterms:created>
  <dcterms:modified xsi:type="dcterms:W3CDTF">2022-03-20T17:22:50Z</dcterms:modified>
</cp:coreProperties>
</file>